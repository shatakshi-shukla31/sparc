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9144000" cy="13350875"/>
  <p:notesSz cx="13350875"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59" d="100"/>
          <a:sy n="59" d="100"/>
        </p:scale>
        <p:origin x="316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014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jp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351" y="9537742"/>
            <a:ext cx="4565997" cy="324005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Shape 1"/>
          <p:cNvSpPr/>
          <p:nvPr/>
        </p:nvSpPr>
        <p:spPr>
          <a:xfrm>
            <a:off x="81213" y="1266236"/>
            <a:ext cx="8981574" cy="3495522"/>
          </a:xfrm>
          <a:prstGeom prst="rect">
            <a:avLst/>
          </a:prstGeom>
          <a:solidFill>
            <a:srgbClr val="0C2A47"/>
          </a:solidFill>
          <a:ln/>
        </p:spPr>
      </p:sp>
      <p:pic>
        <p:nvPicPr>
          <p:cNvPr id="61" name="Image 0" descr="/home/claude/assets/skin_macro.png"/>
          <p:cNvPicPr>
            <a:picLocks noChangeAspect="1"/>
          </p:cNvPicPr>
          <p:nvPr/>
        </p:nvPicPr>
        <p:blipFill rotWithShape="1">
          <a:blip r:embed="rId2"/>
          <a:srcRect t="4819"/>
          <a:stretch/>
        </p:blipFill>
        <p:spPr>
          <a:xfrm>
            <a:off x="4572271" y="9537741"/>
            <a:ext cx="4565997" cy="3213755"/>
          </a:xfrm>
          <a:prstGeom prst="rect">
            <a:avLst/>
          </a:prstGeom>
        </p:spPr>
      </p:pic>
      <p:pic>
        <p:nvPicPr>
          <p:cNvPr id="2" name="Picture 1"/>
          <p:cNvPicPr>
            <a:picLocks/>
          </p:cNvPicPr>
          <p:nvPr/>
        </p:nvPicPr>
        <p:blipFill rotWithShape="1">
          <a:blip r:embed="rId3"/>
          <a:srcRect r="71682"/>
          <a:stretch/>
        </p:blipFill>
        <p:spPr>
          <a:xfrm>
            <a:off x="4097024" y="127523"/>
            <a:ext cx="1080000" cy="1080000"/>
          </a:xfrm>
          <a:prstGeom prst="rect">
            <a:avLst/>
          </a:prstGeom>
        </p:spPr>
      </p:pic>
      <p:pic>
        <p:nvPicPr>
          <p:cNvPr id="5" name="Picture 4"/>
          <p:cNvPicPr>
            <a:picLocks noChangeAspect="1"/>
          </p:cNvPicPr>
          <p:nvPr/>
        </p:nvPicPr>
        <p:blipFill rotWithShape="1">
          <a:blip r:embed="rId4"/>
          <a:srcRect l="26470" r="27489" b="-883"/>
          <a:stretch/>
        </p:blipFill>
        <p:spPr>
          <a:xfrm>
            <a:off x="3287013" y="1708492"/>
            <a:ext cx="2496157" cy="454080"/>
          </a:xfrm>
          <a:prstGeom prst="rect">
            <a:avLst/>
          </a:prstGeom>
        </p:spPr>
      </p:pic>
      <p:pic>
        <p:nvPicPr>
          <p:cNvPr id="6" name="Picture 5"/>
          <p:cNvPicPr>
            <a:picLocks/>
          </p:cNvPicPr>
          <p:nvPr/>
        </p:nvPicPr>
        <p:blipFill>
          <a:blip r:embed="rId5"/>
          <a:stretch>
            <a:fillRect/>
          </a:stretch>
        </p:blipFill>
        <p:spPr>
          <a:xfrm>
            <a:off x="173220" y="88292"/>
            <a:ext cx="1080000" cy="1080000"/>
          </a:xfrm>
          <a:prstGeom prst="rect">
            <a:avLst/>
          </a:prstGeom>
        </p:spPr>
      </p:pic>
      <p:pic>
        <p:nvPicPr>
          <p:cNvPr id="7" name="Picture 6"/>
          <p:cNvPicPr>
            <a:picLocks/>
          </p:cNvPicPr>
          <p:nvPr/>
        </p:nvPicPr>
        <p:blipFill>
          <a:blip r:embed="rId6"/>
          <a:stretch>
            <a:fillRect/>
          </a:stretch>
        </p:blipFill>
        <p:spPr>
          <a:xfrm>
            <a:off x="6604671" y="103532"/>
            <a:ext cx="2417409" cy="1080000"/>
          </a:xfrm>
          <a:prstGeom prst="rect">
            <a:avLst/>
          </a:prstGeom>
        </p:spPr>
      </p:pic>
      <p:pic>
        <p:nvPicPr>
          <p:cNvPr id="8" name="Picture 7"/>
          <p:cNvPicPr>
            <a:picLocks/>
          </p:cNvPicPr>
          <p:nvPr/>
        </p:nvPicPr>
        <p:blipFill>
          <a:blip r:embed="rId7"/>
          <a:stretch>
            <a:fillRect/>
          </a:stretch>
        </p:blipFill>
        <p:spPr>
          <a:xfrm>
            <a:off x="5350848" y="112283"/>
            <a:ext cx="1080000" cy="1080000"/>
          </a:xfrm>
          <a:prstGeom prst="rect">
            <a:avLst/>
          </a:prstGeom>
        </p:spPr>
      </p:pic>
      <p:sp>
        <p:nvSpPr>
          <p:cNvPr id="10" name="Text 2"/>
          <p:cNvSpPr/>
          <p:nvPr/>
        </p:nvSpPr>
        <p:spPr>
          <a:xfrm>
            <a:off x="426007" y="1366160"/>
            <a:ext cx="8412480" cy="320040"/>
          </a:xfrm>
          <a:prstGeom prst="rect">
            <a:avLst/>
          </a:prstGeom>
          <a:noFill/>
          <a:ln/>
        </p:spPr>
        <p:txBody>
          <a:bodyPr wrap="square" rtlCol="0" anchor="ctr"/>
          <a:lstStyle/>
          <a:p>
            <a:pPr marL="0" indent="0" algn="ctr">
              <a:buNone/>
            </a:pPr>
            <a:r>
              <a:rPr lang="en-US" sz="2400" b="1" kern="0" spc="150" dirty="0">
                <a:solidFill>
                  <a:schemeClr val="bg1"/>
                </a:solidFill>
                <a:latin typeface="Calibri" pitchFamily="34" charset="0"/>
                <a:ea typeface="Calibri" pitchFamily="34" charset="-122"/>
                <a:cs typeface="Calibri" pitchFamily="34" charset="-120"/>
              </a:rPr>
              <a:t>INDO–US WORKSHOP ON</a:t>
            </a:r>
            <a:endParaRPr lang="en-US" sz="2400" dirty="0">
              <a:solidFill>
                <a:schemeClr val="bg1"/>
              </a:solidFill>
            </a:endParaRPr>
          </a:p>
        </p:txBody>
      </p:sp>
      <p:sp>
        <p:nvSpPr>
          <p:cNvPr id="11" name="Text 3"/>
          <p:cNvSpPr/>
          <p:nvPr/>
        </p:nvSpPr>
        <p:spPr>
          <a:xfrm>
            <a:off x="301099" y="1864724"/>
            <a:ext cx="8412480" cy="1234440"/>
          </a:xfrm>
          <a:prstGeom prst="rect">
            <a:avLst/>
          </a:prstGeom>
          <a:noFill/>
          <a:ln/>
        </p:spPr>
        <p:txBody>
          <a:bodyPr wrap="square" rtlCol="0" anchor="ctr"/>
          <a:lstStyle/>
          <a:p>
            <a:pPr marL="0" indent="0" algn="ctr">
              <a:buNone/>
            </a:pPr>
            <a:r>
              <a:rPr lang="en-US" sz="3200" b="1" dirty="0">
                <a:solidFill>
                  <a:schemeClr val="bg1"/>
                </a:solidFill>
                <a:latin typeface="Cambria" pitchFamily="34" charset="0"/>
                <a:ea typeface="Cambria" pitchFamily="34" charset="-122"/>
                <a:cs typeface="Cambria" pitchFamily="34" charset="-120"/>
              </a:rPr>
              <a:t>“</a:t>
            </a: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Medical Device in Wound Healing</a:t>
            </a:r>
            <a:r>
              <a:rPr lang="en-US" sz="3200" b="1" dirty="0">
                <a:solidFill>
                  <a:schemeClr val="bg1"/>
                </a:solidFill>
                <a:latin typeface="Cambria" pitchFamily="34" charset="0"/>
                <a:ea typeface="Cambria" pitchFamily="34" charset="-122"/>
                <a:cs typeface="Cambria" pitchFamily="34" charset="-120"/>
              </a:rPr>
              <a:t>”</a:t>
            </a:r>
            <a:endParaRPr lang="en-US" sz="3200" dirty="0">
              <a:solidFill>
                <a:schemeClr val="bg1"/>
              </a:solidFill>
            </a:endParaRPr>
          </a:p>
        </p:txBody>
      </p:sp>
      <p:sp>
        <p:nvSpPr>
          <p:cNvPr id="12" name="Text 4"/>
          <p:cNvSpPr/>
          <p:nvPr/>
        </p:nvSpPr>
        <p:spPr>
          <a:xfrm>
            <a:off x="101072" y="2681326"/>
            <a:ext cx="8868038" cy="777240"/>
          </a:xfrm>
          <a:prstGeom prst="rect">
            <a:avLst/>
          </a:prstGeom>
          <a:noFill/>
          <a:ln/>
        </p:spPr>
        <p:txBody>
          <a:bodyPr wrap="square" rtlCol="0" anchor="t"/>
          <a:lstStyle/>
          <a:p>
            <a:pPr marL="0" indent="0" algn="ctr">
              <a:buNone/>
            </a:pPr>
            <a:r>
              <a:rPr lang="en-US" i="1" dirty="0">
                <a:solidFill>
                  <a:schemeClr val="bg1"/>
                </a:solidFill>
                <a:latin typeface="Tahoma" panose="020B0604030504040204" pitchFamily="34" charset="0"/>
                <a:ea typeface="Tahoma" panose="020B0604030504040204" pitchFamily="34" charset="0"/>
                <a:cs typeface="Tahoma" panose="020B0604030504040204" pitchFamily="34" charset="0"/>
              </a:rPr>
              <a:t>Bridging biomedical engineering and clinical translation for </a:t>
            </a:r>
          </a:p>
          <a:p>
            <a:pPr marL="0" indent="0" algn="ctr">
              <a:buNone/>
            </a:pPr>
            <a:r>
              <a:rPr lang="en-US" i="1" dirty="0">
                <a:solidFill>
                  <a:schemeClr val="bg1"/>
                </a:solidFill>
                <a:latin typeface="Tahoma" panose="020B0604030504040204" pitchFamily="34" charset="0"/>
                <a:ea typeface="Tahoma" panose="020B0604030504040204" pitchFamily="34" charset="0"/>
                <a:cs typeface="Tahoma" panose="020B0604030504040204" pitchFamily="34" charset="0"/>
              </a:rPr>
              <a:t>next-generation wound healing technologies.</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Picture 14"/>
          <p:cNvPicPr>
            <a:picLocks noChangeAspect="1"/>
          </p:cNvPicPr>
          <p:nvPr/>
        </p:nvPicPr>
        <p:blipFill>
          <a:blip r:embed="rId8"/>
          <a:stretch>
            <a:fillRect/>
          </a:stretch>
        </p:blipFill>
        <p:spPr>
          <a:xfrm>
            <a:off x="2457124" y="4873656"/>
            <a:ext cx="4146233" cy="852939"/>
          </a:xfrm>
          <a:prstGeom prst="rect">
            <a:avLst/>
          </a:prstGeom>
        </p:spPr>
      </p:pic>
      <p:pic>
        <p:nvPicPr>
          <p:cNvPr id="16" name="Picture 15"/>
          <p:cNvPicPr>
            <a:picLocks noChangeAspect="1"/>
          </p:cNvPicPr>
          <p:nvPr/>
        </p:nvPicPr>
        <p:blipFill>
          <a:blip r:embed="rId9"/>
          <a:stretch>
            <a:fillRect/>
          </a:stretch>
        </p:blipFill>
        <p:spPr>
          <a:xfrm>
            <a:off x="1864190" y="5759861"/>
            <a:ext cx="5412990" cy="647205"/>
          </a:xfrm>
          <a:prstGeom prst="rect">
            <a:avLst/>
          </a:prstGeom>
        </p:spPr>
      </p:pic>
      <p:pic>
        <p:nvPicPr>
          <p:cNvPr id="17" name="Pictur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327" y="5071527"/>
            <a:ext cx="1865376" cy="2023872"/>
          </a:xfrm>
          <a:prstGeom prst="rect">
            <a:avLst/>
          </a:prstGeom>
        </p:spPr>
      </p:pic>
      <p:pic>
        <p:nvPicPr>
          <p:cNvPr id="18" name="Picture 1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248508" y="5071527"/>
            <a:ext cx="1889760" cy="2036064"/>
          </a:xfrm>
          <a:prstGeom prst="rect">
            <a:avLst/>
          </a:prstGeom>
        </p:spPr>
      </p:pic>
      <p:sp>
        <p:nvSpPr>
          <p:cNvPr id="23" name="Shape 26"/>
          <p:cNvSpPr/>
          <p:nvPr/>
        </p:nvSpPr>
        <p:spPr>
          <a:xfrm>
            <a:off x="6317368" y="10111067"/>
            <a:ext cx="82296" cy="82296"/>
          </a:xfrm>
          <a:prstGeom prst="ellipse">
            <a:avLst/>
          </a:prstGeom>
          <a:solidFill>
            <a:srgbClr val="E2703A"/>
          </a:solidFill>
          <a:ln/>
        </p:spPr>
      </p:sp>
      <p:sp>
        <p:nvSpPr>
          <p:cNvPr id="24" name="Text 27"/>
          <p:cNvSpPr/>
          <p:nvPr/>
        </p:nvSpPr>
        <p:spPr>
          <a:xfrm>
            <a:off x="6481959" y="9941902"/>
            <a:ext cx="2088171" cy="372371"/>
          </a:xfrm>
          <a:prstGeom prst="rect">
            <a:avLst/>
          </a:prstGeom>
          <a:noFill/>
          <a:ln/>
        </p:spPr>
        <p:txBody>
          <a:bodyPr wrap="square" rtlCol="0" anchor="ctr"/>
          <a:lstStyle/>
          <a:p>
            <a:pPr marL="0" indent="0" algn="l">
              <a:buNone/>
            </a:pPr>
            <a:r>
              <a:rPr lang="en-US" b="1" dirty="0">
                <a:latin typeface="Cambria" panose="02040503050406030204" pitchFamily="18" charset="0"/>
                <a:ea typeface="Cambria" panose="02040503050406030204" pitchFamily="18" charset="0"/>
                <a:cs typeface="Calibri" pitchFamily="34" charset="-120"/>
              </a:rPr>
              <a:t>Medical Devices</a:t>
            </a:r>
            <a:endParaRPr lang="en-US" dirty="0">
              <a:latin typeface="Cambria" panose="02040503050406030204" pitchFamily="18" charset="0"/>
              <a:ea typeface="Cambria" panose="02040503050406030204" pitchFamily="18" charset="0"/>
            </a:endParaRPr>
          </a:p>
        </p:txBody>
      </p:sp>
      <p:sp>
        <p:nvSpPr>
          <p:cNvPr id="25" name="Shape 28"/>
          <p:cNvSpPr/>
          <p:nvPr/>
        </p:nvSpPr>
        <p:spPr>
          <a:xfrm>
            <a:off x="6316569" y="10444823"/>
            <a:ext cx="82296" cy="82296"/>
          </a:xfrm>
          <a:prstGeom prst="ellipse">
            <a:avLst/>
          </a:prstGeom>
          <a:solidFill>
            <a:srgbClr val="7FD9C9"/>
          </a:solidFill>
          <a:ln/>
        </p:spPr>
      </p:sp>
      <p:sp>
        <p:nvSpPr>
          <p:cNvPr id="26" name="Text 29"/>
          <p:cNvSpPr/>
          <p:nvPr/>
        </p:nvSpPr>
        <p:spPr>
          <a:xfrm>
            <a:off x="6481161" y="10321379"/>
            <a:ext cx="1845662" cy="329184"/>
          </a:xfrm>
          <a:prstGeom prst="rect">
            <a:avLst/>
          </a:prstGeom>
          <a:noFill/>
          <a:ln/>
        </p:spPr>
        <p:txBody>
          <a:bodyPr wrap="square" rtlCol="0" anchor="ctr"/>
          <a:lstStyle/>
          <a:p>
            <a:pPr marL="0" indent="0" algn="l">
              <a:buNone/>
            </a:pPr>
            <a:r>
              <a:rPr lang="en-US" b="1" dirty="0">
                <a:latin typeface="Cambria" panose="02040503050406030204" pitchFamily="18" charset="0"/>
                <a:ea typeface="Cambria" panose="02040503050406030204" pitchFamily="18" charset="0"/>
                <a:cs typeface="Calibri" pitchFamily="34" charset="-120"/>
              </a:rPr>
              <a:t>Wound Healing</a:t>
            </a:r>
            <a:endParaRPr lang="en-US" dirty="0">
              <a:latin typeface="Cambria" panose="02040503050406030204" pitchFamily="18" charset="0"/>
              <a:ea typeface="Cambria" panose="02040503050406030204" pitchFamily="18" charset="0"/>
            </a:endParaRPr>
          </a:p>
        </p:txBody>
      </p:sp>
      <p:sp>
        <p:nvSpPr>
          <p:cNvPr id="27" name="Shape 30"/>
          <p:cNvSpPr/>
          <p:nvPr/>
        </p:nvSpPr>
        <p:spPr>
          <a:xfrm>
            <a:off x="6316569" y="10813137"/>
            <a:ext cx="82296" cy="82296"/>
          </a:xfrm>
          <a:prstGeom prst="ellipse">
            <a:avLst/>
          </a:prstGeom>
          <a:solidFill>
            <a:srgbClr val="E2703A"/>
          </a:solidFill>
          <a:ln/>
        </p:spPr>
      </p:sp>
      <p:sp>
        <p:nvSpPr>
          <p:cNvPr id="28" name="Text 31"/>
          <p:cNvSpPr/>
          <p:nvPr/>
        </p:nvSpPr>
        <p:spPr>
          <a:xfrm>
            <a:off x="6481160" y="10643972"/>
            <a:ext cx="3051859" cy="391132"/>
          </a:xfrm>
          <a:prstGeom prst="rect">
            <a:avLst/>
          </a:prstGeom>
          <a:noFill/>
          <a:ln/>
        </p:spPr>
        <p:txBody>
          <a:bodyPr wrap="square" rtlCol="0" anchor="ctr"/>
          <a:lstStyle/>
          <a:p>
            <a:pPr marL="0" indent="0" algn="l">
              <a:buNone/>
            </a:pPr>
            <a:r>
              <a:rPr lang="en-US" b="1" dirty="0">
                <a:latin typeface="Cambria" panose="02040503050406030204" pitchFamily="18" charset="0"/>
                <a:ea typeface="Cambria" panose="02040503050406030204" pitchFamily="18" charset="0"/>
                <a:cs typeface="Calibri" pitchFamily="34" charset="-120"/>
              </a:rPr>
              <a:t>Translational Research</a:t>
            </a:r>
            <a:endParaRPr lang="en-US" dirty="0">
              <a:latin typeface="Cambria" panose="02040503050406030204" pitchFamily="18" charset="0"/>
              <a:ea typeface="Cambria" panose="02040503050406030204" pitchFamily="18" charset="0"/>
            </a:endParaRPr>
          </a:p>
        </p:txBody>
      </p:sp>
      <p:sp>
        <p:nvSpPr>
          <p:cNvPr id="29" name="Shape 32"/>
          <p:cNvSpPr/>
          <p:nvPr/>
        </p:nvSpPr>
        <p:spPr>
          <a:xfrm>
            <a:off x="6318547" y="11171748"/>
            <a:ext cx="82296" cy="82296"/>
          </a:xfrm>
          <a:prstGeom prst="ellipse">
            <a:avLst/>
          </a:prstGeom>
          <a:solidFill>
            <a:srgbClr val="7FD9C9"/>
          </a:solidFill>
          <a:ln/>
        </p:spPr>
      </p:sp>
      <p:sp>
        <p:nvSpPr>
          <p:cNvPr id="30" name="Text 33"/>
          <p:cNvSpPr/>
          <p:nvPr/>
        </p:nvSpPr>
        <p:spPr>
          <a:xfrm>
            <a:off x="6483138" y="10972103"/>
            <a:ext cx="3049881" cy="478004"/>
          </a:xfrm>
          <a:prstGeom prst="rect">
            <a:avLst/>
          </a:prstGeom>
          <a:noFill/>
          <a:ln/>
        </p:spPr>
        <p:txBody>
          <a:bodyPr wrap="square" rtlCol="0" anchor="ctr"/>
          <a:lstStyle/>
          <a:p>
            <a:pPr marL="0" indent="0" algn="l">
              <a:buNone/>
            </a:pPr>
            <a:r>
              <a:rPr lang="en-US" b="1" dirty="0">
                <a:latin typeface="Cambria" panose="02040503050406030204" pitchFamily="18" charset="0"/>
                <a:ea typeface="Cambria" panose="02040503050406030204" pitchFamily="18" charset="0"/>
                <a:cs typeface="Calibri" pitchFamily="34" charset="-120"/>
              </a:rPr>
              <a:t>Regenerative Healing</a:t>
            </a:r>
            <a:endParaRPr lang="en-US" dirty="0">
              <a:latin typeface="Cambria" panose="02040503050406030204" pitchFamily="18" charset="0"/>
              <a:ea typeface="Cambria" panose="02040503050406030204" pitchFamily="18" charset="0"/>
            </a:endParaRPr>
          </a:p>
        </p:txBody>
      </p:sp>
      <p:sp>
        <p:nvSpPr>
          <p:cNvPr id="32" name="Text 35"/>
          <p:cNvSpPr/>
          <p:nvPr/>
        </p:nvSpPr>
        <p:spPr>
          <a:xfrm>
            <a:off x="60247" y="9622614"/>
            <a:ext cx="4572000" cy="274320"/>
          </a:xfrm>
          <a:prstGeom prst="rect">
            <a:avLst/>
          </a:prstGeom>
          <a:noFill/>
          <a:ln/>
        </p:spPr>
        <p:txBody>
          <a:bodyPr wrap="square" rtlCol="0" anchor="ctr"/>
          <a:lstStyle/>
          <a:p>
            <a:pPr marL="0" indent="0">
              <a:buNone/>
            </a:pPr>
            <a:r>
              <a:rPr lang="en-US" sz="2000" b="1" kern="0" spc="130" dirty="0">
                <a:solidFill>
                  <a:srgbClr val="E2703A"/>
                </a:solidFill>
                <a:latin typeface="Calibri" pitchFamily="34" charset="0"/>
                <a:ea typeface="Calibri" pitchFamily="34" charset="-122"/>
                <a:cs typeface="Calibri" pitchFamily="34" charset="-120"/>
              </a:rPr>
              <a:t>ORGANIZED BY</a:t>
            </a:r>
            <a:endParaRPr lang="en-US" sz="2000" dirty="0"/>
          </a:p>
        </p:txBody>
      </p:sp>
      <p:sp>
        <p:nvSpPr>
          <p:cNvPr id="33" name="Text 36"/>
          <p:cNvSpPr/>
          <p:nvPr/>
        </p:nvSpPr>
        <p:spPr>
          <a:xfrm>
            <a:off x="60247" y="9904682"/>
            <a:ext cx="5410200" cy="621793"/>
          </a:xfrm>
          <a:prstGeom prst="rect">
            <a:avLst/>
          </a:prstGeom>
          <a:noFill/>
          <a:ln/>
        </p:spPr>
        <p:txBody>
          <a:bodyPr wrap="square" rtlCol="0" anchor="ctr"/>
          <a:lstStyle/>
          <a:p>
            <a:pPr marL="0" indent="0">
              <a:lnSpc>
                <a:spcPts val="1800"/>
              </a:lnSpc>
              <a:buNone/>
            </a:pPr>
            <a:r>
              <a:rPr lang="en-US" sz="1400" b="1" dirty="0">
                <a:solidFill>
                  <a:srgbClr val="12293F"/>
                </a:solidFill>
                <a:latin typeface="Tahoma" panose="020B0604030504040204" pitchFamily="34" charset="0"/>
                <a:ea typeface="Tahoma" panose="020B0604030504040204" pitchFamily="34" charset="0"/>
                <a:cs typeface="Tahoma" panose="020B0604030504040204" pitchFamily="34" charset="0"/>
              </a:rPr>
              <a:t>Department of Biomedical Engineering, </a:t>
            </a:r>
          </a:p>
          <a:p>
            <a:pPr marL="0" indent="0">
              <a:lnSpc>
                <a:spcPts val="1800"/>
              </a:lnSpc>
              <a:buNone/>
            </a:pPr>
            <a:r>
              <a:rPr lang="en-US" sz="1400" b="1" dirty="0">
                <a:solidFill>
                  <a:srgbClr val="12293F"/>
                </a:solidFill>
                <a:latin typeface="Tahoma" panose="020B0604030504040204" pitchFamily="34" charset="0"/>
                <a:ea typeface="Tahoma" panose="020B0604030504040204" pitchFamily="34" charset="0"/>
                <a:cs typeface="Tahoma" panose="020B0604030504040204" pitchFamily="34" charset="0"/>
              </a:rPr>
              <a:t>IIT Ropar &amp; PGIMER Chandigarh</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34" name="Text 37"/>
          <p:cNvSpPr/>
          <p:nvPr/>
        </p:nvSpPr>
        <p:spPr>
          <a:xfrm>
            <a:off x="60247" y="10958212"/>
            <a:ext cx="4572000" cy="274320"/>
          </a:xfrm>
          <a:prstGeom prst="rect">
            <a:avLst/>
          </a:prstGeom>
          <a:noFill/>
          <a:ln/>
        </p:spPr>
        <p:txBody>
          <a:bodyPr wrap="square" rtlCol="0" anchor="ctr"/>
          <a:lstStyle/>
          <a:p>
            <a:pPr marL="0" indent="0">
              <a:buNone/>
            </a:pPr>
            <a:r>
              <a:rPr lang="en-US" sz="2000" b="1" kern="0" spc="130" dirty="0">
                <a:solidFill>
                  <a:srgbClr val="E2703A"/>
                </a:solidFill>
                <a:latin typeface="Calibri" pitchFamily="34" charset="0"/>
                <a:ea typeface="Calibri" pitchFamily="34" charset="-122"/>
                <a:cs typeface="Calibri" pitchFamily="34" charset="-120"/>
              </a:rPr>
              <a:t>CONVENORS</a:t>
            </a:r>
            <a:endParaRPr lang="en-US" sz="2000" dirty="0"/>
          </a:p>
        </p:txBody>
      </p:sp>
      <p:grpSp>
        <p:nvGrpSpPr>
          <p:cNvPr id="50" name="Group 49"/>
          <p:cNvGrpSpPr/>
          <p:nvPr/>
        </p:nvGrpSpPr>
        <p:grpSpPr>
          <a:xfrm>
            <a:off x="4626244" y="9607047"/>
            <a:ext cx="1596440" cy="1351166"/>
            <a:chOff x="11729883" y="6530340"/>
            <a:chExt cx="3063240" cy="2450594"/>
          </a:xfrm>
        </p:grpSpPr>
        <p:pic>
          <p:nvPicPr>
            <p:cNvPr id="38" name="Image 11" descr="/home/claude/assets/hex_top.png"/>
            <p:cNvPicPr>
              <a:picLocks noChangeAspect="1"/>
            </p:cNvPicPr>
            <p:nvPr/>
          </p:nvPicPr>
          <p:blipFill>
            <a:blip r:embed="rId12"/>
            <a:srcRect/>
            <a:stretch/>
          </p:blipFill>
          <p:spPr>
            <a:xfrm>
              <a:off x="11729883" y="6530340"/>
              <a:ext cx="3063240" cy="1170432"/>
            </a:xfrm>
            <a:prstGeom prst="rect">
              <a:avLst/>
            </a:prstGeom>
          </p:spPr>
        </p:pic>
        <p:sp>
          <p:nvSpPr>
            <p:cNvPr id="39" name="Shape 41"/>
            <p:cNvSpPr/>
            <p:nvPr/>
          </p:nvSpPr>
          <p:spPr>
            <a:xfrm>
              <a:off x="11729883" y="6530340"/>
              <a:ext cx="3063240" cy="1170432"/>
            </a:xfrm>
            <a:prstGeom prst="roundRect">
              <a:avLst>
                <a:gd name="adj" fmla="val 4688"/>
              </a:avLst>
            </a:prstGeom>
            <a:ln w="6350">
              <a:solidFill>
                <a:srgbClr val="0C2A47"/>
              </a:solidFill>
              <a:prstDash val="solid"/>
            </a:ln>
          </p:spPr>
        </p:sp>
        <p:pic>
          <p:nvPicPr>
            <p:cNvPr id="40" name="Image 12" descr="/home/claude/assets/hex_bottom.png"/>
            <p:cNvPicPr>
              <a:picLocks noChangeAspect="1"/>
            </p:cNvPicPr>
            <p:nvPr/>
          </p:nvPicPr>
          <p:blipFill>
            <a:blip r:embed="rId13"/>
            <a:srcRect/>
            <a:stretch/>
          </p:blipFill>
          <p:spPr>
            <a:xfrm>
              <a:off x="11729883" y="7681114"/>
              <a:ext cx="3063240" cy="1299820"/>
            </a:xfrm>
            <a:prstGeom prst="rect">
              <a:avLst/>
            </a:prstGeom>
          </p:spPr>
        </p:pic>
        <p:sp>
          <p:nvSpPr>
            <p:cNvPr id="41" name="Shape 42"/>
            <p:cNvSpPr/>
            <p:nvPr/>
          </p:nvSpPr>
          <p:spPr>
            <a:xfrm>
              <a:off x="11729883" y="7810500"/>
              <a:ext cx="3063240" cy="1170432"/>
            </a:xfrm>
            <a:prstGeom prst="roundRect">
              <a:avLst>
                <a:gd name="adj" fmla="val 4688"/>
              </a:avLst>
            </a:prstGeom>
            <a:ln w="6350">
              <a:solidFill>
                <a:srgbClr val="0C2A47"/>
              </a:solidFill>
              <a:prstDash val="solid"/>
            </a:ln>
          </p:spPr>
        </p:sp>
      </p:grpSp>
      <p:sp>
        <p:nvSpPr>
          <p:cNvPr id="49" name="Text 35"/>
          <p:cNvSpPr/>
          <p:nvPr/>
        </p:nvSpPr>
        <p:spPr>
          <a:xfrm>
            <a:off x="6196419" y="9605226"/>
            <a:ext cx="2946701" cy="288213"/>
          </a:xfrm>
          <a:prstGeom prst="rect">
            <a:avLst/>
          </a:prstGeom>
          <a:noFill/>
          <a:ln/>
        </p:spPr>
        <p:txBody>
          <a:bodyPr wrap="square" rtlCol="0" anchor="ctr"/>
          <a:lstStyle/>
          <a:p>
            <a:pPr marL="0" indent="0">
              <a:buNone/>
            </a:pPr>
            <a:r>
              <a:rPr lang="en-US" sz="2000" b="1" kern="0" spc="130" dirty="0">
                <a:solidFill>
                  <a:srgbClr val="E2703A"/>
                </a:solidFill>
                <a:latin typeface="Calibri" pitchFamily="34" charset="0"/>
                <a:ea typeface="Calibri" pitchFamily="34" charset="-122"/>
                <a:cs typeface="Calibri" pitchFamily="34" charset="-120"/>
              </a:rPr>
              <a:t>WORKSHOP THEME</a:t>
            </a:r>
            <a:endParaRPr lang="en-US" sz="2000" dirty="0"/>
          </a:p>
        </p:txBody>
      </p:sp>
      <p:sp>
        <p:nvSpPr>
          <p:cNvPr id="51" name="Rectangle 50"/>
          <p:cNvSpPr/>
          <p:nvPr/>
        </p:nvSpPr>
        <p:spPr>
          <a:xfrm>
            <a:off x="81213" y="3577202"/>
            <a:ext cx="8940867" cy="1169551"/>
          </a:xfrm>
          <a:prstGeom prst="rect">
            <a:avLst/>
          </a:prstGeom>
        </p:spPr>
        <p:txBody>
          <a:bodyPr wrap="square">
            <a:spAutoFit/>
          </a:bodyPr>
          <a:lstStyle/>
          <a:p>
            <a:pPr algn="just"/>
            <a:r>
              <a:rPr lang="en-IN" sz="1400" b="1" dirty="0">
                <a:solidFill>
                  <a:schemeClr val="bg1"/>
                </a:solidFill>
              </a:rPr>
              <a:t>MDWH-2026</a:t>
            </a:r>
            <a:r>
              <a:rPr lang="en-IN" sz="1400" dirty="0">
                <a:solidFill>
                  <a:schemeClr val="bg1"/>
                </a:solidFill>
              </a:rPr>
              <a:t> is jointly organized by the Department of Biomedical Engineering, IIT Ropar, and PGIMER Chandigarh under the SPARC, Ministry of Education. The workshop will bring together researchers, clinicians, engineers, students, and industry professionals to explore advances in medical devices for wound healing through invited lectures, technical demonstrations, and hands-on sessions. It aims to promote knowledge exchange, skill development, clinical translation, and research collaboration for next-generation wound management technologies.</a:t>
            </a:r>
            <a:endParaRPr lang="en-IN" sz="14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53" name="Picture 52"/>
          <p:cNvPicPr>
            <a:picLocks noChangeAspect="1"/>
          </p:cNvPicPr>
          <p:nvPr/>
        </p:nvPicPr>
        <p:blipFill>
          <a:blip r:embed="rId14"/>
          <a:stretch>
            <a:fillRect/>
          </a:stretch>
        </p:blipFill>
        <p:spPr>
          <a:xfrm>
            <a:off x="877398" y="6751000"/>
            <a:ext cx="1634716" cy="1509286"/>
          </a:xfrm>
          <a:prstGeom prst="rect">
            <a:avLst/>
          </a:prstGeom>
        </p:spPr>
      </p:pic>
      <p:pic>
        <p:nvPicPr>
          <p:cNvPr id="55" name="Picture 54"/>
          <p:cNvPicPr>
            <a:picLocks noChangeAspect="1"/>
          </p:cNvPicPr>
          <p:nvPr/>
        </p:nvPicPr>
        <p:blipFill>
          <a:blip r:embed="rId15"/>
          <a:stretch>
            <a:fillRect/>
          </a:stretch>
        </p:blipFill>
        <p:spPr>
          <a:xfrm>
            <a:off x="4574875" y="6665939"/>
            <a:ext cx="1548299" cy="1529145"/>
          </a:xfrm>
          <a:prstGeom prst="rect">
            <a:avLst/>
          </a:prstGeom>
        </p:spPr>
      </p:pic>
      <p:pic>
        <p:nvPicPr>
          <p:cNvPr id="56" name="Picture 55"/>
          <p:cNvPicPr>
            <a:picLocks noChangeAspect="1"/>
          </p:cNvPicPr>
          <p:nvPr/>
        </p:nvPicPr>
        <p:blipFill>
          <a:blip r:embed="rId16"/>
          <a:stretch>
            <a:fillRect/>
          </a:stretch>
        </p:blipFill>
        <p:spPr>
          <a:xfrm>
            <a:off x="6316569" y="6661249"/>
            <a:ext cx="1548299" cy="1535764"/>
          </a:xfrm>
          <a:prstGeom prst="rect">
            <a:avLst/>
          </a:prstGeom>
        </p:spPr>
      </p:pic>
      <p:sp>
        <p:nvSpPr>
          <p:cNvPr id="57" name="TextBox 56"/>
          <p:cNvSpPr txBox="1"/>
          <p:nvPr/>
        </p:nvSpPr>
        <p:spPr>
          <a:xfrm>
            <a:off x="6398865" y="8202315"/>
            <a:ext cx="1611159" cy="338554"/>
          </a:xfrm>
          <a:prstGeom prst="rect">
            <a:avLst/>
          </a:prstGeom>
          <a:noFill/>
        </p:spPr>
        <p:txBody>
          <a:bodyPr wrap="square" rtlCol="0">
            <a:spAutoFit/>
          </a:bodyPr>
          <a:lstStyle/>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Dr. Debarati Chattopadhyay</a:t>
            </a:r>
          </a:p>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AIIMS Rishikesh</a:t>
            </a:r>
          </a:p>
        </p:txBody>
      </p:sp>
      <p:sp>
        <p:nvSpPr>
          <p:cNvPr id="58" name="TextBox 57"/>
          <p:cNvSpPr txBox="1"/>
          <p:nvPr/>
        </p:nvSpPr>
        <p:spPr>
          <a:xfrm>
            <a:off x="4613593" y="8208215"/>
            <a:ext cx="1611159" cy="338554"/>
          </a:xfrm>
          <a:prstGeom prst="rect">
            <a:avLst/>
          </a:prstGeom>
          <a:noFill/>
        </p:spPr>
        <p:txBody>
          <a:bodyPr wrap="square" rtlCol="0">
            <a:spAutoFit/>
          </a:bodyPr>
          <a:lstStyle/>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Dr. Ashvind Bawa</a:t>
            </a:r>
          </a:p>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DMCH Ludhiana</a:t>
            </a:r>
          </a:p>
        </p:txBody>
      </p:sp>
      <p:sp>
        <p:nvSpPr>
          <p:cNvPr id="59" name="TextBox 58"/>
          <p:cNvSpPr txBox="1"/>
          <p:nvPr/>
        </p:nvSpPr>
        <p:spPr>
          <a:xfrm>
            <a:off x="426007" y="8208215"/>
            <a:ext cx="2457945" cy="830997"/>
          </a:xfrm>
          <a:prstGeom prst="rect">
            <a:avLst/>
          </a:prstGeom>
          <a:noFill/>
        </p:spPr>
        <p:txBody>
          <a:bodyPr wrap="square" rtlCol="0">
            <a:spAutoFit/>
          </a:bodyPr>
          <a:lstStyle/>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Prof. Chandan K. Sen</a:t>
            </a:r>
          </a:p>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Asso. Vice Chancellor –Life Science Innovation, University of Pittsburgh</a:t>
            </a:r>
          </a:p>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Director, McGowan Institute of Regenerative Medicine</a:t>
            </a:r>
          </a:p>
          <a:p>
            <a:pPr algn="ctr"/>
            <a:endPar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endParaRPr>
          </a:p>
        </p:txBody>
      </p:sp>
      <p:sp>
        <p:nvSpPr>
          <p:cNvPr id="72" name="Text 37"/>
          <p:cNvSpPr/>
          <p:nvPr/>
        </p:nvSpPr>
        <p:spPr>
          <a:xfrm>
            <a:off x="87793" y="11876199"/>
            <a:ext cx="5420726" cy="522710"/>
          </a:xfrm>
          <a:prstGeom prst="rect">
            <a:avLst/>
          </a:prstGeom>
          <a:noFill/>
          <a:ln/>
        </p:spPr>
        <p:txBody>
          <a:bodyPr wrap="square" rtlCol="0" anchor="ctr"/>
          <a:lstStyle/>
          <a:p>
            <a:r>
              <a:rPr lang="en-US" sz="2000" b="1" kern="0" spc="130" dirty="0">
                <a:solidFill>
                  <a:srgbClr val="E2703A"/>
                </a:solidFill>
                <a:latin typeface="Calibri" pitchFamily="34" charset="0"/>
                <a:ea typeface="Calibri" pitchFamily="34" charset="-122"/>
                <a:cs typeface="Calibri" pitchFamily="34" charset="-120"/>
              </a:rPr>
              <a:t>REGISTRATION LINK</a:t>
            </a:r>
            <a:endParaRPr lang="en-US" sz="2000" dirty="0">
              <a:solidFill>
                <a:schemeClr val="bg1"/>
              </a:solidFill>
            </a:endParaRPr>
          </a:p>
        </p:txBody>
      </p:sp>
      <p:sp>
        <p:nvSpPr>
          <p:cNvPr id="76" name="Shape 43"/>
          <p:cNvSpPr/>
          <p:nvPr/>
        </p:nvSpPr>
        <p:spPr>
          <a:xfrm>
            <a:off x="0" y="12764920"/>
            <a:ext cx="9144000" cy="585319"/>
          </a:xfrm>
          <a:prstGeom prst="rect">
            <a:avLst/>
          </a:prstGeom>
          <a:solidFill>
            <a:srgbClr val="0B2038"/>
          </a:solidFill>
          <a:ln/>
        </p:spPr>
      </p:sp>
      <p:sp>
        <p:nvSpPr>
          <p:cNvPr id="75" name="Text 38"/>
          <p:cNvSpPr/>
          <p:nvPr/>
        </p:nvSpPr>
        <p:spPr>
          <a:xfrm>
            <a:off x="3171776" y="12807970"/>
            <a:ext cx="5343574" cy="548640"/>
          </a:xfrm>
          <a:prstGeom prst="rect">
            <a:avLst/>
          </a:prstGeom>
          <a:noFill/>
          <a:ln/>
        </p:spPr>
        <p:txBody>
          <a:bodyPr wrap="square" rtlCol="0" anchor="ctr"/>
          <a:lstStyle/>
          <a:p>
            <a:pPr>
              <a:lnSpc>
                <a:spcPts val="1600"/>
              </a:lnSpc>
            </a:pPr>
            <a:r>
              <a:rPr lang="en-US" sz="1600" b="1" dirty="0" err="1">
                <a:solidFill>
                  <a:schemeClr val="bg1"/>
                </a:solidFill>
                <a:latin typeface="Tahoma" panose="020B0604030504040204" pitchFamily="34" charset="0"/>
                <a:ea typeface="Tahoma" panose="020B0604030504040204" pitchFamily="34" charset="0"/>
                <a:cs typeface="Tahoma" panose="020B0604030504040204" pitchFamily="34" charset="0"/>
              </a:rPr>
              <a:t>sparciitropar@gmail.com</a:t>
            </a: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         +91-1881-232506</a:t>
            </a:r>
            <a:endParaRPr lang="en-US" sz="16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77" name="Rectangle 76"/>
          <p:cNvSpPr/>
          <p:nvPr/>
        </p:nvSpPr>
        <p:spPr>
          <a:xfrm>
            <a:off x="741120" y="12897624"/>
            <a:ext cx="1732847" cy="369332"/>
          </a:xfrm>
          <a:prstGeom prst="rect">
            <a:avLst/>
          </a:prstGeom>
        </p:spPr>
        <p:txBody>
          <a:bodyPr wrap="none">
            <a:spAutoFit/>
          </a:bodyPr>
          <a:lstStyle/>
          <a:p>
            <a:r>
              <a:rPr lang="en-US" b="1" kern="0" spc="130" dirty="0">
                <a:solidFill>
                  <a:schemeClr val="bg1"/>
                </a:solidFill>
                <a:latin typeface="Calibri" pitchFamily="34" charset="0"/>
                <a:ea typeface="Calibri" pitchFamily="34" charset="-122"/>
                <a:cs typeface="Calibri" pitchFamily="34" charset="-120"/>
              </a:rPr>
              <a:t>CONTACT US: </a:t>
            </a:r>
            <a:endParaRPr lang="en-US" dirty="0">
              <a:solidFill>
                <a:schemeClr val="bg1"/>
              </a:solidFill>
            </a:endParaRPr>
          </a:p>
        </p:txBody>
      </p:sp>
      <p:pic>
        <p:nvPicPr>
          <p:cNvPr id="81" name="Picture 80"/>
          <p:cNvPicPr>
            <a:picLocks noChangeAspect="1"/>
          </p:cNvPicPr>
          <p:nvPr/>
        </p:nvPicPr>
        <p:blipFill>
          <a:blip r:embed="rId17"/>
          <a:stretch>
            <a:fillRect/>
          </a:stretch>
        </p:blipFill>
        <p:spPr>
          <a:xfrm>
            <a:off x="2765347" y="12952541"/>
            <a:ext cx="409431" cy="259498"/>
          </a:xfrm>
          <a:prstGeom prst="rect">
            <a:avLst/>
          </a:prstGeom>
        </p:spPr>
      </p:pic>
      <p:pic>
        <p:nvPicPr>
          <p:cNvPr id="83" name="Picture 82"/>
          <p:cNvPicPr>
            <a:picLocks noChangeAspect="1"/>
          </p:cNvPicPr>
          <p:nvPr/>
        </p:nvPicPr>
        <p:blipFill>
          <a:blip r:embed="rId18"/>
          <a:stretch>
            <a:fillRect/>
          </a:stretch>
        </p:blipFill>
        <p:spPr>
          <a:xfrm>
            <a:off x="6061711" y="12946025"/>
            <a:ext cx="284183" cy="272531"/>
          </a:xfrm>
          <a:prstGeom prst="rect">
            <a:avLst/>
          </a:prstGeom>
        </p:spPr>
      </p:pic>
      <p:pic>
        <p:nvPicPr>
          <p:cNvPr id="86" name="Image 1" descr="/home/claude/assets/ashu_src.png"/>
          <p:cNvPicPr>
            <a:picLocks noChangeAspect="1"/>
          </p:cNvPicPr>
          <p:nvPr/>
        </p:nvPicPr>
        <p:blipFill>
          <a:blip r:embed="rId19"/>
          <a:stretch>
            <a:fillRect/>
          </a:stretch>
        </p:blipFill>
        <p:spPr>
          <a:xfrm>
            <a:off x="3062319" y="10551525"/>
            <a:ext cx="971288" cy="971288"/>
          </a:xfrm>
          <a:prstGeom prst="ellipse">
            <a:avLst/>
          </a:prstGeom>
        </p:spPr>
      </p:pic>
      <p:grpSp>
        <p:nvGrpSpPr>
          <p:cNvPr id="4" name="Group 3"/>
          <p:cNvGrpSpPr/>
          <p:nvPr/>
        </p:nvGrpSpPr>
        <p:grpSpPr>
          <a:xfrm>
            <a:off x="1861078" y="10598121"/>
            <a:ext cx="990322" cy="1307859"/>
            <a:chOff x="620552" y="11206325"/>
            <a:chExt cx="990322" cy="1307859"/>
          </a:xfrm>
        </p:grpSpPr>
        <p:pic>
          <p:nvPicPr>
            <p:cNvPr id="85" name="Image 0" descr="/home/claude/assets/durba_src.png"/>
            <p:cNvPicPr>
              <a:picLocks noChangeAspect="1"/>
            </p:cNvPicPr>
            <p:nvPr/>
          </p:nvPicPr>
          <p:blipFill>
            <a:blip r:embed="rId20"/>
            <a:stretch>
              <a:fillRect/>
            </a:stretch>
          </p:blipFill>
          <p:spPr>
            <a:xfrm>
              <a:off x="660741" y="11206325"/>
              <a:ext cx="924692" cy="924692"/>
            </a:xfrm>
            <a:prstGeom prst="ellipse">
              <a:avLst/>
            </a:prstGeom>
          </p:spPr>
        </p:pic>
        <p:sp>
          <p:nvSpPr>
            <p:cNvPr id="88" name="TextBox 87"/>
            <p:cNvSpPr txBox="1"/>
            <p:nvPr/>
          </p:nvSpPr>
          <p:spPr>
            <a:xfrm>
              <a:off x="620552" y="12144852"/>
              <a:ext cx="990322" cy="369332"/>
            </a:xfrm>
            <a:prstGeom prst="rect">
              <a:avLst/>
            </a:prstGeom>
            <a:noFill/>
          </p:spPr>
          <p:txBody>
            <a:bodyPr wrap="square" rtlCol="0">
              <a:spAutoFit/>
            </a:bodyPr>
            <a:lstStyle/>
            <a:p>
              <a:pPr algn="ctr"/>
              <a:r>
                <a:rPr lang="fr-FR" sz="900" b="1" dirty="0">
                  <a:solidFill>
                    <a:srgbClr val="003399"/>
                  </a:solidFill>
                  <a:latin typeface="Tahoma" panose="020B0604030504040204" pitchFamily="34" charset="0"/>
                  <a:ea typeface="Tahoma" panose="020B0604030504040204" pitchFamily="34" charset="0"/>
                  <a:cs typeface="Tahoma" panose="020B0604030504040204" pitchFamily="34" charset="0"/>
                </a:rPr>
                <a:t>Dr. </a:t>
              </a:r>
              <a:r>
                <a:rPr lang="fr-FR" sz="900" b="1" dirty="0" err="1">
                  <a:solidFill>
                    <a:srgbClr val="003399"/>
                  </a:solidFill>
                  <a:latin typeface="Tahoma" panose="020B0604030504040204" pitchFamily="34" charset="0"/>
                  <a:ea typeface="Tahoma" panose="020B0604030504040204" pitchFamily="34" charset="0"/>
                  <a:cs typeface="Tahoma" panose="020B0604030504040204" pitchFamily="34" charset="0"/>
                </a:rPr>
                <a:t>Durba</a:t>
              </a:r>
              <a:r>
                <a:rPr lang="fr-FR" sz="900" b="1" dirty="0">
                  <a:solidFill>
                    <a:srgbClr val="003399"/>
                  </a:solidFill>
                  <a:latin typeface="Tahoma" panose="020B0604030504040204" pitchFamily="34" charset="0"/>
                  <a:ea typeface="Tahoma" panose="020B0604030504040204" pitchFamily="34" charset="0"/>
                  <a:cs typeface="Tahoma" panose="020B0604030504040204" pitchFamily="34" charset="0"/>
                </a:rPr>
                <a:t> Pal IIT </a:t>
              </a:r>
              <a:r>
                <a:rPr lang="fr-FR" sz="900" b="1" dirty="0" err="1">
                  <a:solidFill>
                    <a:srgbClr val="003399"/>
                  </a:solidFill>
                  <a:latin typeface="Tahoma" panose="020B0604030504040204" pitchFamily="34" charset="0"/>
                  <a:ea typeface="Tahoma" panose="020B0604030504040204" pitchFamily="34" charset="0"/>
                  <a:cs typeface="Tahoma" panose="020B0604030504040204" pitchFamily="34" charset="0"/>
                </a:rPr>
                <a:t>Ropar</a:t>
              </a:r>
              <a:endParaRPr lang="fr-FR" sz="900" b="1" dirty="0">
                <a:solidFill>
                  <a:srgbClr val="003399"/>
                </a:solidFill>
                <a:latin typeface="Tahoma" panose="020B0604030504040204" pitchFamily="34" charset="0"/>
                <a:ea typeface="Tahoma" panose="020B0604030504040204" pitchFamily="34" charset="0"/>
                <a:cs typeface="Tahoma" panose="020B0604030504040204" pitchFamily="34" charset="0"/>
              </a:endParaRPr>
            </a:p>
          </p:txBody>
        </p:sp>
      </p:grpSp>
      <p:sp>
        <p:nvSpPr>
          <p:cNvPr id="89" name="TextBox 88"/>
          <p:cNvSpPr txBox="1"/>
          <p:nvPr/>
        </p:nvSpPr>
        <p:spPr>
          <a:xfrm>
            <a:off x="2751389" y="11531593"/>
            <a:ext cx="1611159" cy="369332"/>
          </a:xfrm>
          <a:prstGeom prst="rect">
            <a:avLst/>
          </a:prstGeom>
          <a:noFill/>
        </p:spPr>
        <p:txBody>
          <a:bodyPr wrap="square" rtlCol="0">
            <a:spAutoFit/>
          </a:bodyPr>
          <a:lstStyle/>
          <a:p>
            <a:pPr algn="ctr"/>
            <a:r>
              <a:rPr lang="sv-SE" sz="900" b="1" dirty="0">
                <a:solidFill>
                  <a:srgbClr val="003399"/>
                </a:solidFill>
                <a:latin typeface="Tahoma" panose="020B0604030504040204" pitchFamily="34" charset="0"/>
                <a:ea typeface="Tahoma" panose="020B0604030504040204" pitchFamily="34" charset="0"/>
                <a:cs typeface="Tahoma" panose="020B0604030504040204" pitchFamily="34" charset="0"/>
              </a:rPr>
              <a:t>Dr. Ashu Rastogi</a:t>
            </a:r>
          </a:p>
          <a:p>
            <a:pPr algn="ctr"/>
            <a:r>
              <a:rPr lang="sv-SE" sz="900" b="1" dirty="0">
                <a:solidFill>
                  <a:srgbClr val="003399"/>
                </a:solidFill>
                <a:latin typeface="Tahoma" panose="020B0604030504040204" pitchFamily="34" charset="0"/>
                <a:ea typeface="Tahoma" panose="020B0604030504040204" pitchFamily="34" charset="0"/>
                <a:cs typeface="Tahoma" panose="020B0604030504040204" pitchFamily="34" charset="0"/>
              </a:rPr>
              <a:t>PGIMER Chandigarh</a:t>
            </a:r>
          </a:p>
        </p:txBody>
      </p:sp>
      <p:pic>
        <p:nvPicPr>
          <p:cNvPr id="90" name="Picture 89" descr="santanu_ringed.png"/>
          <p:cNvPicPr>
            <a:picLocks noChangeAspect="1"/>
          </p:cNvPicPr>
          <p:nvPr/>
        </p:nvPicPr>
        <p:blipFill>
          <a:blip r:embed="rId21"/>
          <a:stretch>
            <a:fillRect/>
          </a:stretch>
        </p:blipFill>
        <p:spPr>
          <a:xfrm>
            <a:off x="2761473" y="6603801"/>
            <a:ext cx="1645090" cy="1675821"/>
          </a:xfrm>
          <a:prstGeom prst="rect">
            <a:avLst/>
          </a:prstGeom>
        </p:spPr>
      </p:pic>
      <p:pic>
        <p:nvPicPr>
          <p:cNvPr id="1026" name="Picture 2" descr="SPARC | IIT KHARAGPUR">
            <a:extLst>
              <a:ext uri="{FF2B5EF4-FFF2-40B4-BE49-F238E27FC236}">
                <a16:creationId xmlns:a16="http://schemas.microsoft.com/office/drawing/2014/main" id="{A979BEE2-AF36-358D-8DF9-D8D71CDDE5D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27044" y="91140"/>
            <a:ext cx="2496156" cy="96705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0C66303-054E-7E5B-567C-C87DEA623C4A}"/>
              </a:ext>
            </a:extLst>
          </p:cNvPr>
          <p:cNvSpPr txBox="1"/>
          <p:nvPr/>
        </p:nvSpPr>
        <p:spPr>
          <a:xfrm>
            <a:off x="2703892" y="8208215"/>
            <a:ext cx="1866793" cy="338554"/>
          </a:xfrm>
          <a:prstGeom prst="rect">
            <a:avLst/>
          </a:prstGeom>
          <a:noFill/>
        </p:spPr>
        <p:txBody>
          <a:bodyPr wrap="square" rtlCol="0">
            <a:spAutoFit/>
          </a:bodyPr>
          <a:lstStyle/>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Prof. Santanu Bhattacharya</a:t>
            </a:r>
          </a:p>
          <a:p>
            <a:pPr algn="ctr"/>
            <a:r>
              <a:rPr lang="en-IN" sz="800" b="1" dirty="0">
                <a:solidFill>
                  <a:srgbClr val="003399"/>
                </a:solidFill>
                <a:latin typeface="Tahoma" panose="020B0604030504040204" pitchFamily="34" charset="0"/>
                <a:ea typeface="Tahoma" panose="020B0604030504040204" pitchFamily="34" charset="0"/>
                <a:cs typeface="Tahoma" panose="020B0604030504040204" pitchFamily="34" charset="0"/>
              </a:rPr>
              <a:t>Director, IISER Tirupati </a:t>
            </a:r>
          </a:p>
        </p:txBody>
      </p:sp>
      <p:sp>
        <p:nvSpPr>
          <p:cNvPr id="3" name="TextBox 2">
            <a:extLst>
              <a:ext uri="{FF2B5EF4-FFF2-40B4-BE49-F238E27FC236}">
                <a16:creationId xmlns:a16="http://schemas.microsoft.com/office/drawing/2014/main" id="{F4042B81-55AD-F93A-11C1-784F7E9DE944}"/>
              </a:ext>
            </a:extLst>
          </p:cNvPr>
          <p:cNvSpPr txBox="1"/>
          <p:nvPr/>
        </p:nvSpPr>
        <p:spPr>
          <a:xfrm>
            <a:off x="2324246" y="9015375"/>
            <a:ext cx="9848524" cy="523220"/>
          </a:xfrm>
          <a:prstGeom prst="rect">
            <a:avLst/>
          </a:prstGeom>
          <a:noFill/>
        </p:spPr>
        <p:txBody>
          <a:bodyPr wrap="square" rtlCol="0">
            <a:spAutoFit/>
          </a:bodyPr>
          <a:lstStyle/>
          <a:p>
            <a:r>
              <a:rPr lang="en-US" sz="2800" i="1" dirty="0">
                <a:solidFill>
                  <a:srgbClr val="FF0000"/>
                </a:solidFill>
              </a:rPr>
              <a:t>Academic – Industrial conclave!  </a:t>
            </a:r>
          </a:p>
        </p:txBody>
      </p:sp>
    </p:spTree>
    <p:extLst>
      <p:ext uri="{BB962C8B-B14F-4D97-AF65-F5344CB8AC3E}">
        <p14:creationId xmlns:p14="http://schemas.microsoft.com/office/powerpoint/2010/main" val="4294166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1181</TotalTime>
  <Words>204</Words>
  <Application>Microsoft Macintosh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vt:lpstr>
      <vt:lpstr>Tahoma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Durba Pal</cp:lastModifiedBy>
  <cp:revision>30</cp:revision>
  <dcterms:created xsi:type="dcterms:W3CDTF">2026-09-18T18:27:07Z</dcterms:created>
  <dcterms:modified xsi:type="dcterms:W3CDTF">2026-10-07T10:50:08Z</dcterms:modified>
</cp:coreProperties>
</file>